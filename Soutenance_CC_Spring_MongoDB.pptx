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uverture" id="{e26a56b4-9e09-703a-738a-b42eaa1b690a}">
          <p14:sldIdLst>
            <p14:sldId id="256"/>
            <p14:sldId id="257"/>
          </p14:sldIdLst>
        </p14:section>
        <p14:section name="Sujet et solution" id="{8db41e2f-3081-4e6a-c167-aec7612f65d6}">
          <p14:sldIdLst>
            <p14:sldId id="258"/>
            <p14:sldId id="259"/>
            <p14:sldId id="260"/>
          </p14:sldIdLst>
        </p14:section>
        <p14:section name="Démonstration" id="{9c28f7e8-35aa-16cc-1084-bb380f6bbd1b}">
          <p14:sldIdLst>
            <p14:sldId id="261"/>
            <p14:sldId id="262"/>
          </p14:sldIdLst>
        </p14:section>
        <p14:section name="Qualité" id="{4fb16538-e990-b287-ce67-88f7ef65d3a2}">
          <p14:sldIdLst>
            <p14:sldId id="263"/>
            <p14:sldId id="264"/>
            <p14:sldId id="265"/>
          </p14:sldIdLst>
        </p14:section>
        <p14:section name="Conclusion" id="{9fb14654-a45b-3e3a-114e-4d572ab57209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Présentation : 10 min, puis 5 min de questions. Se présenter en une phrase et annoncer le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secondes. Ne pas lire la liste : annoncer simplement les grandes étapes.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Résumer le besoin métier, puis les contraintes techniques qui guident la suite.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30. Justifier : références par identifiant plutôt que @DBRef, prescriptions embarquées, intégrité vérifiée dans les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30. Suivre une requête de gauche à droite. Insister : la base se change par configuration (MONGO_URI), les secrets sont dans .env.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secondes. Annoncer ces trois parcours : ce sont ceux qu'on va dérouler en direct dans Swagger.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à 4 min. Login admin → Authorize → recherche patient → consultations → prescriptions → création (201) → modification prescription → suppression en médecin (403) puis en admin (204). Avoir Mongo et l'appli lancés AVANT l'oral.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Mettre à jour les chiffres avec la dernière analyse. Montrer qu'on a examiné l'alerte de sécurité et justifié la décision.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 30. Un exemple concret par principe, idéalement montré dans le code si on vous le demande.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secondes. Mettre à jour le nombre de tests avant l'oral.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secondes. Bilan honnête (ce qui est fait, ce qui reste), puis ouvrir aux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172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Projet d'expertise JEE · Spring · MongoDB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CALAIRE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78892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PROJET D'EXPERTISE ÉVALUÉ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API REST Spring &amp; MongoDB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Gestion des consultations d'un cabinet médical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Hippolyte GAUTHERON  ·  CC AIBD — JEE, Spring, MongoDB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SOMMAIRE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Déroulé de la présentation</a:t>
            </a:r>
            <a:endParaRPr lang="en-US" sz="3200" dirty="0"/>
          </a:p>
        </p:txBody>
      </p:sp>
      <p:sp>
        <p:nvSpPr>
          <p:cNvPr id="4" name="Sommaire 1"/>
          <p:cNvSpPr/>
          <p:nvPr/>
        </p:nvSpPr>
        <p:spPr>
          <a:xfrm>
            <a:off x="548640" y="182880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82880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Rappel du sujet</a:t>
            </a:r>
            <a:endParaRPr lang="en-US" sz="2000" dirty="0"/>
          </a:p>
        </p:txBody>
      </p:sp>
      <p:sp>
        <p:nvSpPr>
          <p:cNvPr id="7" name="Sommaire 2"/>
          <p:cNvSpPr/>
          <p:nvPr/>
        </p:nvSpPr>
        <p:spPr>
          <a:xfrm>
            <a:off x="6217920" y="182880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82880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7543800" y="182880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Solution proposée</a:t>
            </a:r>
            <a:endParaRPr lang="en-US" sz="2000" dirty="0"/>
          </a:p>
        </p:txBody>
      </p:sp>
      <p:sp>
        <p:nvSpPr>
          <p:cNvPr id="10" name="Sommaire 3"/>
          <p:cNvSpPr/>
          <p:nvPr/>
        </p:nvSpPr>
        <p:spPr>
          <a:xfrm>
            <a:off x="548640" y="315468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15468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1546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Scénarios de démonstration</a:t>
            </a:r>
            <a:endParaRPr lang="en-US" sz="2000" dirty="0"/>
          </a:p>
        </p:txBody>
      </p:sp>
      <p:sp>
        <p:nvSpPr>
          <p:cNvPr id="13" name="Sommaire 4"/>
          <p:cNvSpPr/>
          <p:nvPr/>
        </p:nvSpPr>
        <p:spPr>
          <a:xfrm>
            <a:off x="6217920" y="315468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7960" y="315468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04</a:t>
            </a:r>
            <a:endParaRPr lang="en-US" sz="320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315468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Démonstration</a:t>
            </a:r>
            <a:endParaRPr lang="en-US" sz="2000" dirty="0"/>
          </a:p>
        </p:txBody>
      </p:sp>
      <p:sp>
        <p:nvSpPr>
          <p:cNvPr id="16" name="Sommaire 5"/>
          <p:cNvSpPr/>
          <p:nvPr/>
        </p:nvSpPr>
        <p:spPr>
          <a:xfrm>
            <a:off x="548640" y="448056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4805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05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4805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Qualité et bonnes pratiques</a:t>
            </a:r>
            <a:endParaRPr lang="en-US" sz="2000" dirty="0"/>
          </a:p>
        </p:txBody>
      </p:sp>
      <p:sp>
        <p:nvSpPr>
          <p:cNvPr id="19" name="Sommaire 6"/>
          <p:cNvSpPr/>
          <p:nvPr/>
        </p:nvSpPr>
        <p:spPr>
          <a:xfrm>
            <a:off x="6217920" y="4480560"/>
            <a:ext cx="5394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4480560"/>
            <a:ext cx="914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06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448056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Conclusion et bilan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01 — RAPPEL DU SUJET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Une API REST pour un cabinet médical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Fonctionnalités demandées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Connexion par identifiant / mot de passe et jeton JWT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Patients et médecins paginés, avec recherche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Consultations d'un patient et détail des prescriptions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Programmer, modifier, supprimer une consultation future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Modifier la prescription d'une consultation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Joindre un document à une consultation</a:t>
            </a:r>
            <a:endParaRPr lang="en-US" sz="1600" dirty="0"/>
          </a:p>
        </p:txBody>
      </p:sp>
      <p:sp>
        <p:nvSpPr>
          <p:cNvPr id="6" name="Carte contraintes"/>
          <p:cNvSpPr/>
          <p:nvPr/>
        </p:nvSpPr>
        <p:spPr>
          <a:xfrm>
            <a:off x="7498080" y="1737360"/>
            <a:ext cx="4114800" cy="406908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Pastille icône"/>
          <p:cNvSpPr/>
          <p:nvPr/>
        </p:nvSpPr>
        <p:spPr>
          <a:xfrm>
            <a:off x="7818120" y="20116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21488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503920" y="20116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Contraintes techniques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27889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Spring Boot, Web, Security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MongoDB par configuration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Architecture en couches + DTO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Documentation OpenAPI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Dette technique : SonarQube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Tests Spring Boot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— SOLUTION PROPOSÉE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Du MCD au modèle MongoDB</a:t>
            </a:r>
            <a:endParaRPr lang="en-US" sz="3200" dirty="0"/>
          </a:p>
        </p:txBody>
      </p:sp>
      <p:sp>
        <p:nvSpPr>
          <p:cNvPr id="4" name="Emplacement image"/>
          <p:cNvSpPr/>
          <p:nvPr/>
        </p:nvSpPr>
        <p:spPr>
          <a:xfrm>
            <a:off x="548640" y="1737360"/>
            <a:ext cx="4937760" cy="406908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" name="Légende emplacement"/>
          <p:cNvSpPr txBox="1"/>
          <p:nvPr/>
        </p:nvSpPr>
        <p:spPr>
          <a:xfrm>
            <a:off x="548640" y="1737360"/>
            <a:ext cx="493776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Emplacement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MCD du sujet (capture de l'énoncé)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737360"/>
          <a:ext cx="5760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749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Entité du MCD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Choix MongoDB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MEDECIN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Collection medecin, _id = matricule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PATIENT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Collection patient, _id = n° SS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MEDICAMENT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Collection medicament, _id = code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CONSULTATION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Collection consultation, références par id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Prescrit (NB prises)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Liste embarquée dans la consultation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Encadré choix"/>
          <p:cNvSpPr/>
          <p:nvPr/>
        </p:nvSpPr>
        <p:spPr>
          <a:xfrm>
            <a:off x="5852160" y="4800600"/>
            <a:ext cx="57607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80760" y="480060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Pourquoi embarquer les prescriptions ?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Une prescription n'existe pas sans sa consultation : composition plutôt que jointure.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02 — SOLUTION PROPOSÉE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Architecture et configuration</a:t>
            </a:r>
            <a:endParaRPr lang="en-US" sz="3200" dirty="0"/>
          </a:p>
        </p:txBody>
      </p:sp>
      <p:sp>
        <p:nvSpPr>
          <p:cNvPr id="4" name="Couche Client"/>
          <p:cNvSpPr/>
          <p:nvPr/>
        </p:nvSpPr>
        <p:spPr>
          <a:xfrm>
            <a:off x="548640" y="1783080"/>
            <a:ext cx="18745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Client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Swagger UI</a:t>
            </a:r>
            <a:endParaRPr lang="en-US" sz="1600" dirty="0"/>
          </a:p>
        </p:txBody>
      </p:sp>
      <p:sp>
        <p:nvSpPr>
          <p:cNvPr id="6" name="Flèche"/>
          <p:cNvSpPr/>
          <p:nvPr/>
        </p:nvSpPr>
        <p:spPr>
          <a:xfrm>
            <a:off x="2505456" y="2167128"/>
            <a:ext cx="256032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" name="Couche Contrôleur"/>
          <p:cNvSpPr/>
          <p:nvPr/>
        </p:nvSpPr>
        <p:spPr>
          <a:xfrm>
            <a:off x="2843784" y="1783080"/>
            <a:ext cx="18745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43784" y="17830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Contrôleur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DTO + @Valid</a:t>
            </a:r>
            <a:endParaRPr lang="en-US" sz="1600" dirty="0"/>
          </a:p>
        </p:txBody>
      </p:sp>
      <p:sp>
        <p:nvSpPr>
          <p:cNvPr id="9" name="Flèche"/>
          <p:cNvSpPr/>
          <p:nvPr/>
        </p:nvSpPr>
        <p:spPr>
          <a:xfrm>
            <a:off x="4800600" y="2167128"/>
            <a:ext cx="256032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Couche Service"/>
          <p:cNvSpPr/>
          <p:nvPr/>
        </p:nvSpPr>
        <p:spPr>
          <a:xfrm>
            <a:off x="5138928" y="1783080"/>
            <a:ext cx="18745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38928" y="17830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Règles métier</a:t>
            </a:r>
            <a:endParaRPr lang="en-US" sz="1600" dirty="0"/>
          </a:p>
        </p:txBody>
      </p:sp>
      <p:sp>
        <p:nvSpPr>
          <p:cNvPr id="12" name="Flèche"/>
          <p:cNvSpPr/>
          <p:nvPr/>
        </p:nvSpPr>
        <p:spPr>
          <a:xfrm>
            <a:off x="7095744" y="2167128"/>
            <a:ext cx="256032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Couche Repository"/>
          <p:cNvSpPr/>
          <p:nvPr/>
        </p:nvSpPr>
        <p:spPr>
          <a:xfrm>
            <a:off x="7434072" y="1783080"/>
            <a:ext cx="187452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34072" y="17830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Repository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Spring Data</a:t>
            </a:r>
            <a:endParaRPr lang="en-US" sz="1600" dirty="0"/>
          </a:p>
        </p:txBody>
      </p:sp>
      <p:sp>
        <p:nvSpPr>
          <p:cNvPr id="15" name="Flèche"/>
          <p:cNvSpPr/>
          <p:nvPr/>
        </p:nvSpPr>
        <p:spPr>
          <a:xfrm>
            <a:off x="9390888" y="2167128"/>
            <a:ext cx="256032" cy="274320"/>
          </a:xfrm>
          <a:prstGeom prst="rightArrow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6" name="Couche MongoDB"/>
          <p:cNvSpPr/>
          <p:nvPr/>
        </p:nvSpPr>
        <p:spPr>
          <a:xfrm>
            <a:off x="9729216" y="1783080"/>
            <a:ext cx="1874520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29216" y="1783080"/>
            <a:ext cx="1874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MongoDB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Documents</a:t>
            </a:r>
            <a:endParaRPr lang="en-US" sz="1600" dirty="0"/>
          </a:p>
        </p:txBody>
      </p:sp>
      <p:sp>
        <p:nvSpPr>
          <p:cNvPr id="18" name="Transverse Sécurité"/>
          <p:cNvSpPr/>
          <p:nvPr/>
        </p:nvSpPr>
        <p:spPr>
          <a:xfrm>
            <a:off x="548640" y="3246120"/>
            <a:ext cx="5486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Pastille icône"/>
          <p:cNvSpPr/>
          <p:nvPr/>
        </p:nvSpPr>
        <p:spPr>
          <a:xfrm>
            <a:off x="822960" y="35204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3657600"/>
            <a:ext cx="274320" cy="27432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600200" y="324612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Sécurité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JWT HS256, API stateless, rôles ADMIN / MEDECIN</a:t>
            </a:r>
            <a:endParaRPr lang="en-US" sz="1600" dirty="0"/>
          </a:p>
        </p:txBody>
      </p:sp>
      <p:sp>
        <p:nvSpPr>
          <p:cNvPr id="22" name="Transverse Erreurs"/>
          <p:cNvSpPr/>
          <p:nvPr/>
        </p:nvSpPr>
        <p:spPr>
          <a:xfrm>
            <a:off x="548640" y="4572000"/>
            <a:ext cx="54864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Pastille icône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498348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1600200" y="457200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Erreurs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GlobalExceptionHandler, réponses ProblemDetail</a:t>
            </a:r>
            <a:endParaRPr lang="en-US" sz="1600" dirty="0"/>
          </a:p>
        </p:txBody>
      </p:sp>
      <p:sp>
        <p:nvSpPr>
          <p:cNvPr id="26" name="Bloc configuration"/>
          <p:cNvSpPr/>
          <p:nvPr/>
        </p:nvSpPr>
        <p:spPr>
          <a:xfrm>
            <a:off x="6400800" y="3246120"/>
            <a:ext cx="5212080" cy="2423160"/>
          </a:xfrm>
          <a:prstGeom prst="roundRect">
            <a:avLst>
              <a:gd name="adj" fmla="val 4528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7" name="Extrait configuration"/>
          <p:cNvSpPr txBox="1"/>
          <p:nvPr/>
        </p:nvSpPr>
        <p:spPr>
          <a:xfrm>
            <a:off x="6629400" y="3383280"/>
            <a:ext cx="4800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application.properties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spring.config.import=optional:file:.env[.properties]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spring.mongodb.uri=${MONGO_URI}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app.jwt.secret=${JWT_SECRET}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.env (non versionné)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MONGO_URI=mongodb://localhost:27017/cc_spring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JWT_SECRET=********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docker compose : mongo:8 + sonarqube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03 — SCÉNARIOS DE DÉMONSTRATION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Trois parcours utilisateur</a:t>
            </a:r>
            <a:endParaRPr lang="en-US" sz="3200" dirty="0"/>
          </a:p>
        </p:txBody>
      </p:sp>
      <p:sp>
        <p:nvSpPr>
          <p:cNvPr id="4" name="Scénario 1"/>
          <p:cNvSpPr/>
          <p:nvPr/>
        </p:nvSpPr>
        <p:spPr>
          <a:xfrm>
            <a:off x="548640" y="17830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 numéro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 tant que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médecin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Je veux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rechercher un patient par son nom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Pour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consulter ses consultations et leurs prescriptions</a:t>
            </a:r>
            <a:endParaRPr lang="en-US" sz="1600" dirty="0"/>
          </a:p>
        </p:txBody>
      </p:sp>
      <p:sp>
        <p:nvSpPr>
          <p:cNvPr id="8" name="Scénario 2"/>
          <p:cNvSpPr/>
          <p:nvPr/>
        </p:nvSpPr>
        <p:spPr>
          <a:xfrm>
            <a:off x="4297680" y="17830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 numéro"/>
          <p:cNvSpPr/>
          <p:nvPr/>
        </p:nvSpPr>
        <p:spPr>
          <a:xfrm>
            <a:off x="461772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83464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 tant que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médecin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Je veux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programmer une consultation et prescrire des médicaments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Pour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préparer le rendez-vous du patient</a:t>
            </a:r>
            <a:endParaRPr lang="en-US" sz="1600" dirty="0"/>
          </a:p>
        </p:txBody>
      </p:sp>
      <p:sp>
        <p:nvSpPr>
          <p:cNvPr id="12" name="Scénario 3"/>
          <p:cNvSpPr/>
          <p:nvPr/>
        </p:nvSpPr>
        <p:spPr>
          <a:xfrm>
            <a:off x="8046720" y="1783080"/>
            <a:ext cx="3520440" cy="356616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 numéro"/>
          <p:cNvSpPr/>
          <p:nvPr/>
        </p:nvSpPr>
        <p:spPr>
          <a:xfrm>
            <a:off x="836676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834640"/>
            <a:ext cx="2880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 tant que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administrateur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Je veux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supprimer une consultation programmée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Pour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libérer le créneau (un médecin reçoit un refus 403)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2377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04 — DÉMONSTRATION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7889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Démonstration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Swagger UI — http://localhost:8080/swagger-ui.html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 — QUALITÉ ET BONNES PRATIQUES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Dette technique mesurée avec SonarQube</a:t>
            </a:r>
            <a:endParaRPr lang="en-US" sz="3200" dirty="0"/>
          </a:p>
        </p:txBody>
      </p:sp>
      <p:sp>
        <p:nvSpPr>
          <p:cNvPr id="4" name="Emplacement image"/>
          <p:cNvSpPr/>
          <p:nvPr/>
        </p:nvSpPr>
        <p:spPr>
          <a:xfrm>
            <a:off x="548640" y="1737360"/>
            <a:ext cx="6035040" cy="4069080"/>
          </a:xfrm>
          <a:prstGeom prst="roundRect">
            <a:avLst>
              <a:gd name="adj" fmla="val 2697"/>
            </a:avLst>
          </a:prstGeom>
          <a:solidFill>
            <a:schemeClr val="bg2"/>
          </a:solidFill>
          <a:ln w="15875">
            <a:solidFill>
              <a:schemeClr val="accent6"/>
            </a:solidFill>
            <a:prstDash val="dash"/>
          </a:ln>
        </p:spPr>
      </p:sp>
      <p:sp>
        <p:nvSpPr>
          <p:cNvPr id="5" name="Légende emplacement"/>
          <p:cNvSpPr txBox="1"/>
          <p:nvPr/>
        </p:nvSpPr>
        <p:spPr>
          <a:xfrm>
            <a:off x="548640" y="1737360"/>
            <a:ext cx="603504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Emplacement image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Tableau de bord SonarQube (Overall Code)</a:t>
            </a:r>
            <a:endParaRPr lang="en-US" sz="1400" dirty="0"/>
          </a:p>
        </p:txBody>
      </p:sp>
      <p:sp>
        <p:nvSpPr>
          <p:cNvPr id="6" name="Indicateur Bug"/>
          <p:cNvSpPr/>
          <p:nvPr/>
        </p:nvSpPr>
        <p:spPr>
          <a:xfrm>
            <a:off x="6949440" y="1737360"/>
            <a:ext cx="22402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4944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6949440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Bug</a:t>
            </a:r>
            <a:endParaRPr lang="en-US" sz="1400" dirty="0"/>
          </a:p>
        </p:txBody>
      </p:sp>
      <p:sp>
        <p:nvSpPr>
          <p:cNvPr id="9" name="Indicateur Vulnérabilité"/>
          <p:cNvSpPr/>
          <p:nvPr/>
        </p:nvSpPr>
        <p:spPr>
          <a:xfrm>
            <a:off x="9326880" y="1737360"/>
            <a:ext cx="22402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32688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9326880" y="26060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Vulnérabilité</a:t>
            </a:r>
            <a:endParaRPr lang="en-US" sz="1400" dirty="0"/>
          </a:p>
        </p:txBody>
      </p:sp>
      <p:sp>
        <p:nvSpPr>
          <p:cNvPr id="12" name="Indicateur Couverture"/>
          <p:cNvSpPr/>
          <p:nvPr/>
        </p:nvSpPr>
        <p:spPr>
          <a:xfrm>
            <a:off x="6949440" y="3337560"/>
            <a:ext cx="22402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xx %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4206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Couverture</a:t>
            </a:r>
            <a:endParaRPr lang="en-US" sz="1400" dirty="0"/>
          </a:p>
        </p:txBody>
      </p:sp>
      <p:sp>
        <p:nvSpPr>
          <p:cNvPr id="15" name="Indicateur Duplication"/>
          <p:cNvSpPr/>
          <p:nvPr/>
        </p:nvSpPr>
        <p:spPr>
          <a:xfrm>
            <a:off x="9326880" y="3337560"/>
            <a:ext cx="224028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3474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0,0 %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4206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Duplication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50749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Alerte CSRF acceptée 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stateless, jeton dans l'en-tête, aucun cookie de session.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 — QUALITÉ ET BONNES PRATIQUES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Bonnes pratiques appliquées</a:t>
            </a:r>
            <a:endParaRPr lang="en-US" sz="3200" dirty="0"/>
          </a:p>
        </p:txBody>
      </p:sp>
      <p:sp>
        <p:nvSpPr>
          <p:cNvPr id="4" name="Pratique Tell, don't ask"/>
          <p:cNvSpPr/>
          <p:nvPr/>
        </p:nvSpPr>
        <p:spPr>
          <a:xfrm>
            <a:off x="548640" y="1737360"/>
            <a:ext cx="53949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astille icône"/>
          <p:cNvSpPr/>
          <p:nvPr/>
        </p:nvSpPr>
        <p:spPr>
          <a:xfrm>
            <a:off x="86868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945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Tell, don't ask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97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consultation porte sa propre règle 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consultation.estProgrammee(clock)</a:t>
            </a:r>
            <a:endParaRPr lang="en-US" sz="1400" dirty="0"/>
          </a:p>
        </p:txBody>
      </p:sp>
      <p:sp>
        <p:nvSpPr>
          <p:cNvPr id="9" name="Pratique Inversion de dépendances"/>
          <p:cNvSpPr/>
          <p:nvPr/>
        </p:nvSpPr>
        <p:spPr>
          <a:xfrm>
            <a:off x="6217920" y="1737360"/>
            <a:ext cx="53949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astille icône"/>
          <p:cNvSpPr/>
          <p:nvPr/>
        </p:nvSpPr>
        <p:spPr>
          <a:xfrm>
            <a:off x="6537960" y="2057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1945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Inversion de dépendances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537960" y="26974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Injection par constructeur, horloge injectée 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Clock.fixed(...) dans les tests</a:t>
            </a:r>
            <a:endParaRPr lang="en-US" sz="1400" dirty="0"/>
          </a:p>
        </p:txBody>
      </p:sp>
      <p:sp>
        <p:nvSpPr>
          <p:cNvPr id="14" name="Pratique Généricité"/>
          <p:cNvSpPr/>
          <p:nvPr/>
        </p:nvSpPr>
        <p:spPr>
          <a:xfrm>
            <a:off x="548640" y="3840480"/>
            <a:ext cx="53949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astille icône"/>
          <p:cNvSpPr/>
          <p:nvPr/>
        </p:nvSpPr>
        <p:spPr>
          <a:xfrm>
            <a:off x="868680" y="4160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2976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Généricité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68680" y="4800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type et un mapper pour toutes les entités 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PageResponse&lt;T&gt;, mapper.map(src, Dto.class)</a:t>
            </a:r>
            <a:endParaRPr lang="en-US" sz="1400" dirty="0"/>
          </a:p>
        </p:txBody>
      </p:sp>
      <p:sp>
        <p:nvSpPr>
          <p:cNvPr id="19" name="Pratique Gestion des erreurs"/>
          <p:cNvSpPr/>
          <p:nvPr/>
        </p:nvSpPr>
        <p:spPr>
          <a:xfrm>
            <a:off x="6217920" y="3840480"/>
            <a:ext cx="5394960" cy="187452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Pastille icône"/>
          <p:cNvSpPr/>
          <p:nvPr/>
        </p:nvSpPr>
        <p:spPr>
          <a:xfrm>
            <a:off x="6537960" y="41605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cô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429768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160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Gestion des erreurs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6537960" y="4800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 point unique, format standard RFC 9457 :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GlobalExceptionHandler → ProblemDetail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05 — QUALITÉ ET BONNES PRATIQUES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Stratégie de tests</a:t>
            </a:r>
            <a:endParaRPr lang="en-US" sz="3200" dirty="0"/>
          </a:p>
        </p:txBody>
      </p:sp>
      <p:sp>
        <p:nvSpPr>
          <p:cNvPr id="4" name="Chiffre clé tests"/>
          <p:cNvSpPr/>
          <p:nvPr/>
        </p:nvSpPr>
        <p:spPr>
          <a:xfrm>
            <a:off x="548640" y="1737360"/>
            <a:ext cx="3840480" cy="4069080"/>
          </a:xfrm>
          <a:prstGeom prst="roundRect">
            <a:avLst>
              <a:gd name="adj" fmla="val 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chemeClr val="bg1"/>
                </a:solidFill>
              </a:rPr>
              <a:t>17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tests automatisés au vert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89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</a:t>
            </a:r>
            <a:endParaRPr lang="en-US" sz="1400" dirty="0"/>
          </a:p>
        </p:txBody>
      </p:sp>
      <p:sp>
        <p:nvSpPr>
          <p:cNvPr id="8" name="Test Services — Mockito"/>
          <p:cNvSpPr/>
          <p:nvPr/>
        </p:nvSpPr>
        <p:spPr>
          <a:xfrm>
            <a:off x="4754880" y="1737360"/>
            <a:ext cx="68580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Pastille icône"/>
          <p:cNvSpPr/>
          <p:nvPr/>
        </p:nvSpPr>
        <p:spPr>
          <a:xfrm>
            <a:off x="5029200" y="20802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cô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221742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06440" y="173736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Services — Mockito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Règles métier, mapping DTO, horloge figée pour des tests déterministes</a:t>
            </a:r>
            <a:endParaRPr lang="en-US" sz="1600" dirty="0"/>
          </a:p>
        </p:txBody>
      </p:sp>
      <p:sp>
        <p:nvSpPr>
          <p:cNvPr id="12" name="Test Web — @WebMvcTest"/>
          <p:cNvSpPr/>
          <p:nvPr/>
        </p:nvSpPr>
        <p:spPr>
          <a:xfrm>
            <a:off x="4754880" y="3154680"/>
            <a:ext cx="68580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Pastille icône"/>
          <p:cNvSpPr/>
          <p:nvPr/>
        </p:nvSpPr>
        <p:spPr>
          <a:xfrm>
            <a:off x="5029200" y="34975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Icô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36347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06440" y="315468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Web — @WebMvcTest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Vraie SecurityConfig : 200, 201, 204, 400, 401, 403, 404 vérifiés</a:t>
            </a:r>
            <a:endParaRPr lang="en-US" sz="1600" dirty="0"/>
          </a:p>
        </p:txBody>
      </p:sp>
      <p:sp>
        <p:nvSpPr>
          <p:cNvPr id="16" name="Test Couverture — JaCoCo"/>
          <p:cNvSpPr/>
          <p:nvPr/>
        </p:nvSpPr>
        <p:spPr>
          <a:xfrm>
            <a:off x="4754880" y="4572000"/>
            <a:ext cx="6858000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Pastille icône"/>
          <p:cNvSpPr/>
          <p:nvPr/>
        </p:nvSpPr>
        <p:spPr>
          <a:xfrm>
            <a:off x="5029200" y="49149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cô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505206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806440" y="4572000"/>
            <a:ext cx="5577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Couverture — JaCoCo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Rapport importé automatiquement dans SonarQube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2"/>
                </a:solidFill>
              </a:rPr>
              <a:t>06 — CONCLUSION ET BILAN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31520" y="20116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Merci — des questions 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840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Bilan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3434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API complète, sécurisée et documentée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Qualité mesurée : tests et SonarQube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Ce que j'en retiens : à compléter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3840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Pistes d'amélioration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43434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Tests d'intégration avec Testcontainers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Jeton de rafraîchissement (refresh token)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Image Docker de l'application</a:t>
            </a:r>
            <a:endParaRPr lang="en-US" sz="1600" dirty="0"/>
          </a:p>
        </p:txBody>
      </p:sp>
      <p:sp>
        <p:nvSpPr>
          <p:cNvPr id="9" name="Text 0"/>
          <p:cNvSpPr/>
          <p:nvPr>
            <p:ph idx="102" type="body" hasCustomPrompt="1"/>
          </p:nvPr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000" dirty="0"/>
          </a:p>
        </p:txBody>
      </p:sp>
      <p:sp>
        <p:nvSpPr>
          <p:cNvPr id="10" name="Text 0"/>
          <p:cNvSpPr/>
          <p:nvPr>
            <p:ph idx="103" type="body" hasCustomPrompt="1"/>
          </p:nvPr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C Spring MongoDB">
  <a:themeElements>
    <a:clrScheme name="CC Spring MongoDB">
      <a:dk1>
        <a:srgbClr val="17242A"/>
      </a:dk1>
      <a:lt1>
        <a:srgbClr val="FFFFFF"/>
      </a:lt1>
      <a:dk2>
        <a:srgbClr val="00684A"/>
      </a:dk2>
      <a:lt2>
        <a:srgbClr val="F2F5F4"/>
      </a:lt2>
      <a:accent1>
        <a:srgbClr val="00684A"/>
      </a:accent1>
      <a:accent2>
        <a:srgbClr val="5FBF8F"/>
      </a:accent2>
      <a:accent3>
        <a:srgbClr val="6B7C76"/>
      </a:accent3>
      <a:accent4>
        <a:srgbClr val="DCE4E1"/>
      </a:accent4>
      <a:accent5>
        <a:srgbClr val="0B3D2E"/>
      </a:accent5>
      <a:accent6>
        <a:srgbClr val="B7C6C0"/>
      </a:accent6>
      <a:hlink>
        <a:srgbClr val="00684A"/>
      </a:hlink>
      <a:folHlink>
        <a:srgbClr val="0B3D2E"/>
      </a:folHlink>
    </a:clrScheme>
    <a:fontScheme name="CC Spring MongoD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d'expertise JEE, Spring, MongoDB</dc:title>
  <dc:subject>PptxGenJS Presentation</dc:subject>
  <dc:creator>Hippolyte GAUTHERON</dc:creator>
  <cp:lastModifiedBy>Hippolyte GAUTHERON</cp:lastModifiedBy>
  <cp:revision>1</cp:revision>
  <dcterms:created xsi:type="dcterms:W3CDTF">2026-10-13T08:23:27Z</dcterms:created>
  <dcterms:modified xsi:type="dcterms:W3CDTF">2026-10-13T08:23:27Z</dcterms:modified>
</cp:coreProperties>
</file>